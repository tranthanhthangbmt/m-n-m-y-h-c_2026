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301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</p:sldIdLst>
  <p:sldSz cx="17475200" cy="9753600"/>
  <p:notesSz cx="17475200" cy="9753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02" y="32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0640" y="3023616"/>
            <a:ext cx="14853920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21280" y="5462016"/>
            <a:ext cx="1223264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221125" y="3045713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79" h="30480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4141508" y="3041751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4319310" y="3041751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4475644" y="3035400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4412475" y="3041751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4772343" y="3048101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4683442" y="3041751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4759643" y="30354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5030610" y="30354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4954409" y="3041751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5030610" y="3073501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700"/>
                </a:moveTo>
                <a:lnTo>
                  <a:pt x="50800" y="127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5301577" y="30354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5603025" y="3065881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19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5575961" y="3039386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80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5481104" y="3035400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7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7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73760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8999728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7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61085" y="1272712"/>
            <a:ext cx="3837940" cy="288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3760" y="2243328"/>
            <a:ext cx="15727680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941568" y="9070848"/>
            <a:ext cx="559206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73760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2582144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BF3E15C-ED5E-4717-4175-0CC236BAA6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864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350520"/>
          </a:xfrm>
          <a:custGeom>
            <a:avLst/>
            <a:gdLst/>
            <a:ahLst/>
            <a:cxnLst/>
            <a:rect l="l" t="t" r="r" b="b"/>
            <a:pathLst>
              <a:path w="5760085" h="350520">
                <a:moveTo>
                  <a:pt x="5759996" y="0"/>
                </a:moveTo>
                <a:lnTo>
                  <a:pt x="0" y="0"/>
                </a:lnTo>
                <a:lnTo>
                  <a:pt x="0" y="350278"/>
                </a:lnTo>
                <a:lnTo>
                  <a:pt x="5759996" y="350278"/>
                </a:lnTo>
                <a:lnTo>
                  <a:pt x="5759996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5300" y="59979"/>
            <a:ext cx="291274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0" dirty="0">
                <a:solidFill>
                  <a:srgbClr val="FFFFFF"/>
                </a:solidFill>
                <a:latin typeface="Arial"/>
                <a:cs typeface="Arial"/>
              </a:rPr>
              <a:t>Minh </a:t>
            </a:r>
            <a:r>
              <a:rPr sz="1400" b="0" spc="-10" dirty="0">
                <a:solidFill>
                  <a:srgbClr val="FFFFFF"/>
                </a:solidFill>
                <a:latin typeface="Arial"/>
                <a:cs typeface="Arial"/>
              </a:rPr>
              <a:t>họa:</a:t>
            </a:r>
            <a:r>
              <a:rPr sz="1400" b="0" spc="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0" dirty="0">
                <a:solidFill>
                  <a:srgbClr val="FFFFFF"/>
                </a:solidFill>
                <a:latin typeface="Arial"/>
                <a:cs typeface="Arial"/>
              </a:rPr>
              <a:t>Bất</a:t>
            </a:r>
            <a:r>
              <a:rPr sz="1400" b="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0" spc="-80" dirty="0">
                <a:solidFill>
                  <a:srgbClr val="FFFFFF"/>
                </a:solidFill>
                <a:latin typeface="Arial"/>
                <a:cs typeface="Arial"/>
              </a:rPr>
              <a:t>thường</a:t>
            </a:r>
            <a:r>
              <a:rPr sz="1400" b="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0" spc="120" dirty="0">
                <a:solidFill>
                  <a:srgbClr val="FFFFFF"/>
                </a:solidFill>
                <a:latin typeface="Arial"/>
                <a:cs typeface="Arial"/>
              </a:rPr>
              <a:t>&amp;</a:t>
            </a:r>
            <a:r>
              <a:rPr sz="1400" b="0" dirty="0">
                <a:solidFill>
                  <a:srgbClr val="FFFFFF"/>
                </a:solidFill>
                <a:latin typeface="Arial"/>
                <a:cs typeface="Arial"/>
              </a:rPr>
              <a:t> Luật</a:t>
            </a:r>
            <a:r>
              <a:rPr sz="1400" b="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0" dirty="0">
                <a:solidFill>
                  <a:srgbClr val="FFFFFF"/>
                </a:solidFill>
                <a:latin typeface="Arial"/>
                <a:cs typeface="Arial"/>
              </a:rPr>
              <a:t>kết</a:t>
            </a:r>
            <a:r>
              <a:rPr sz="1400" b="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0" spc="-50" dirty="0">
                <a:solidFill>
                  <a:srgbClr val="FFFFFF"/>
                </a:solidFill>
                <a:latin typeface="Arial"/>
                <a:cs typeface="Arial"/>
              </a:rPr>
              <a:t>hợp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0894" y="641324"/>
            <a:ext cx="3838230" cy="175461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989150" y="2517360"/>
            <a:ext cx="178181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Arial"/>
                <a:cs typeface="Arial"/>
              </a:rPr>
              <a:t>Hình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spc="-45" dirty="0">
                <a:latin typeface="Arial"/>
                <a:cs typeface="Arial"/>
              </a:rPr>
              <a:t>1-</a:t>
            </a:r>
            <a:r>
              <a:rPr sz="1000" dirty="0">
                <a:latin typeface="Arial"/>
                <a:cs typeface="Arial"/>
              </a:rPr>
              <a:t>10.</a:t>
            </a:r>
            <a:r>
              <a:rPr sz="1000" spc="6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Phát</a:t>
            </a:r>
            <a:r>
              <a:rPr sz="1000" spc="-25" dirty="0">
                <a:latin typeface="Arial"/>
                <a:cs typeface="Arial"/>
              </a:rPr>
              <a:t> hiện </a:t>
            </a:r>
            <a:r>
              <a:rPr sz="1000" dirty="0">
                <a:latin typeface="Arial"/>
                <a:cs typeface="Arial"/>
              </a:rPr>
              <a:t>bất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spc="-45" dirty="0">
                <a:latin typeface="Arial"/>
                <a:cs typeface="Arial"/>
              </a:rPr>
              <a:t>thường</a:t>
            </a:r>
            <a:endParaRPr sz="10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3130473"/>
            <a:ext cx="1920239" cy="109855"/>
          </a:xfrm>
          <a:custGeom>
            <a:avLst/>
            <a:gdLst/>
            <a:ahLst/>
            <a:cxnLst/>
            <a:rect l="l" t="t" r="r" b="b"/>
            <a:pathLst>
              <a:path w="1920239" h="109855">
                <a:moveTo>
                  <a:pt x="1919973" y="0"/>
                </a:moveTo>
                <a:lnTo>
                  <a:pt x="0" y="0"/>
                </a:lnTo>
                <a:lnTo>
                  <a:pt x="0" y="109550"/>
                </a:lnTo>
                <a:lnTo>
                  <a:pt x="1919973" y="109550"/>
                </a:lnTo>
                <a:lnTo>
                  <a:pt x="1919973" y="0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15684" y="3117702"/>
            <a:ext cx="148907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</a:rPr>
              <a:t>TS.</a:t>
            </a:r>
            <a:r>
              <a:rPr sz="600" spc="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</a:rPr>
              <a:t>Trần</a:t>
            </a:r>
            <a:r>
              <a:rPr sz="600" spc="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</a:rPr>
              <a:t>Thành</a:t>
            </a:r>
            <a:r>
              <a:rPr sz="600" spc="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</a:rPr>
              <a:t>Thắng</a:t>
            </a:r>
            <a:r>
              <a:rPr sz="600" spc="2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</a:rPr>
              <a:t>(Đại</a:t>
            </a:r>
            <a:r>
              <a:rPr sz="600" spc="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</a:rPr>
              <a:t>học</a:t>
            </a:r>
            <a:r>
              <a:rPr sz="600" spc="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</a:rPr>
              <a:t>Đông</a:t>
            </a:r>
            <a:r>
              <a:rPr sz="600" spc="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Tahoma"/>
                <a:cs typeface="Tahoma"/>
              </a:rPr>
              <a:t>Á)</a:t>
            </a:r>
            <a:endParaRPr sz="6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19973" y="3130473"/>
            <a:ext cx="1920239" cy="109855"/>
          </a:xfrm>
          <a:prstGeom prst="rect">
            <a:avLst/>
          </a:prstGeom>
          <a:solidFill>
            <a:srgbClr val="262685"/>
          </a:solidFill>
        </p:spPr>
        <p:txBody>
          <a:bodyPr vert="horz" wrap="square" lIns="0" tIns="0" rIns="0" bIns="0" rtlCol="0">
            <a:spAutoFit/>
          </a:bodyPr>
          <a:lstStyle/>
          <a:p>
            <a:pPr marL="424180">
              <a:lnSpc>
                <a:spcPts val="71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</a:rPr>
              <a:t>Chương 1:</a:t>
            </a:r>
            <a:r>
              <a:rPr sz="600" spc="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</a:rPr>
              <a:t>Tổng</a:t>
            </a:r>
            <a:r>
              <a:rPr sz="600" spc="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</a:rPr>
              <a:t>quan Học</a:t>
            </a:r>
            <a:r>
              <a:rPr sz="600" spc="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Tahoma"/>
                <a:cs typeface="Tahoma"/>
              </a:rPr>
              <a:t>máy</a:t>
            </a:r>
            <a:endParaRPr sz="6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839946" y="3130473"/>
            <a:ext cx="1920239" cy="109855"/>
          </a:xfrm>
          <a:custGeom>
            <a:avLst/>
            <a:gdLst/>
            <a:ahLst/>
            <a:cxnLst/>
            <a:rect l="l" t="t" r="r" b="b"/>
            <a:pathLst>
              <a:path w="1920239" h="109855">
                <a:moveTo>
                  <a:pt x="1919973" y="0"/>
                </a:moveTo>
                <a:lnTo>
                  <a:pt x="0" y="0"/>
                </a:lnTo>
                <a:lnTo>
                  <a:pt x="0" y="109550"/>
                </a:lnTo>
                <a:lnTo>
                  <a:pt x="1919973" y="109550"/>
                </a:lnTo>
                <a:lnTo>
                  <a:pt x="1919973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397197" y="3117702"/>
            <a:ext cx="57912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</a:rPr>
              <a:t>August</a:t>
            </a:r>
            <a:r>
              <a:rPr sz="600" spc="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</a:rPr>
              <a:t>11,</a:t>
            </a:r>
            <a:r>
              <a:rPr sz="600" spc="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00" spc="-20" dirty="0">
                <a:solidFill>
                  <a:srgbClr val="FFFFFF"/>
                </a:solidFill>
                <a:latin typeface="Tahoma"/>
                <a:cs typeface="Tahoma"/>
              </a:rPr>
              <a:t>2026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452935" y="3117702"/>
            <a:ext cx="252729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20" dirty="0">
                <a:solidFill>
                  <a:srgbClr val="FFFFFF"/>
                </a:solidFill>
                <a:latin typeface="Tahoma"/>
                <a:cs typeface="Tahoma"/>
              </a:rPr>
              <a:t>22</a:t>
            </a:r>
            <a:r>
              <a:rPr sz="600" spc="-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00" spc="85" dirty="0">
                <a:solidFill>
                  <a:srgbClr val="FFFFFF"/>
                </a:solidFill>
                <a:latin typeface="Tahoma"/>
                <a:cs typeface="Tahoma"/>
              </a:rPr>
              <a:t>/</a:t>
            </a:r>
            <a:r>
              <a:rPr sz="600" spc="-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Tahoma"/>
                <a:cs typeface="Tahoma"/>
              </a:rPr>
              <a:t>45</a:t>
            </a:r>
            <a:endParaRPr sz="6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3.</a:t>
            </a:r>
            <a:r>
              <a:rPr spc="290" dirty="0"/>
              <a:t> </a:t>
            </a:r>
            <a:r>
              <a:rPr dirty="0"/>
              <a:t>Thách</a:t>
            </a:r>
            <a:r>
              <a:rPr spc="95" dirty="0"/>
              <a:t> </a:t>
            </a:r>
            <a:r>
              <a:rPr dirty="0"/>
              <a:t>thức,</a:t>
            </a:r>
            <a:r>
              <a:rPr spc="100" dirty="0"/>
              <a:t> </a:t>
            </a:r>
            <a:r>
              <a:rPr dirty="0"/>
              <a:t>Kiểm</a:t>
            </a:r>
            <a:r>
              <a:rPr spc="100" dirty="0"/>
              <a:t> </a:t>
            </a:r>
            <a:r>
              <a:rPr dirty="0"/>
              <a:t>thử</a:t>
            </a:r>
            <a:r>
              <a:rPr spc="100" dirty="0"/>
              <a:t> </a:t>
            </a:r>
            <a:r>
              <a:rPr spc="195" dirty="0"/>
              <a:t>&amp;</a:t>
            </a:r>
            <a:r>
              <a:rPr spc="95" dirty="0"/>
              <a:t> </a:t>
            </a:r>
            <a:r>
              <a:rPr dirty="0"/>
              <a:t>Xác</a:t>
            </a:r>
            <a:r>
              <a:rPr spc="100" dirty="0"/>
              <a:t> </a:t>
            </a:r>
            <a:r>
              <a:rPr spc="-20" dirty="0"/>
              <a:t>thực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3130473"/>
            <a:ext cx="1920239" cy="109855"/>
          </a:xfrm>
          <a:custGeom>
            <a:avLst/>
            <a:gdLst/>
            <a:ahLst/>
            <a:cxnLst/>
            <a:rect l="l" t="t" r="r" b="b"/>
            <a:pathLst>
              <a:path w="1920239" h="109855">
                <a:moveTo>
                  <a:pt x="1919973" y="0"/>
                </a:moveTo>
                <a:lnTo>
                  <a:pt x="0" y="0"/>
                </a:lnTo>
                <a:lnTo>
                  <a:pt x="0" y="109550"/>
                </a:lnTo>
                <a:lnTo>
                  <a:pt x="1919973" y="109550"/>
                </a:lnTo>
                <a:lnTo>
                  <a:pt x="1919973" y="0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15684" y="3117702"/>
            <a:ext cx="148907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</a:rPr>
              <a:t>TS.</a:t>
            </a:r>
            <a:r>
              <a:rPr sz="600" spc="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</a:rPr>
              <a:t>Trần</a:t>
            </a:r>
            <a:r>
              <a:rPr sz="600" spc="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</a:rPr>
              <a:t>Thành</a:t>
            </a:r>
            <a:r>
              <a:rPr sz="600" spc="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</a:rPr>
              <a:t>Thắng</a:t>
            </a:r>
            <a:r>
              <a:rPr sz="600" spc="2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</a:rPr>
              <a:t>(Đại</a:t>
            </a:r>
            <a:r>
              <a:rPr sz="600" spc="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</a:rPr>
              <a:t>học</a:t>
            </a:r>
            <a:r>
              <a:rPr sz="600" spc="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</a:rPr>
              <a:t>Đông</a:t>
            </a:r>
            <a:r>
              <a:rPr sz="600" spc="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Tahoma"/>
                <a:cs typeface="Tahoma"/>
              </a:rPr>
              <a:t>Á)</a:t>
            </a:r>
            <a:endParaRPr sz="6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19973" y="3130473"/>
            <a:ext cx="1920239" cy="109855"/>
          </a:xfrm>
          <a:prstGeom prst="rect">
            <a:avLst/>
          </a:prstGeom>
          <a:solidFill>
            <a:srgbClr val="262685"/>
          </a:solidFill>
        </p:spPr>
        <p:txBody>
          <a:bodyPr vert="horz" wrap="square" lIns="0" tIns="0" rIns="0" bIns="0" rtlCol="0">
            <a:spAutoFit/>
          </a:bodyPr>
          <a:lstStyle/>
          <a:p>
            <a:pPr marL="424180">
              <a:lnSpc>
                <a:spcPts val="71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</a:rPr>
              <a:t>Chương 1:</a:t>
            </a:r>
            <a:r>
              <a:rPr sz="600" spc="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</a:rPr>
              <a:t>Tổng</a:t>
            </a:r>
            <a:r>
              <a:rPr sz="600" spc="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</a:rPr>
              <a:t>quan Học</a:t>
            </a:r>
            <a:r>
              <a:rPr sz="600" spc="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Tahoma"/>
                <a:cs typeface="Tahoma"/>
              </a:rPr>
              <a:t>máy</a:t>
            </a:r>
            <a:endParaRPr sz="6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839946" y="3130473"/>
            <a:ext cx="1920239" cy="109855"/>
          </a:xfrm>
          <a:custGeom>
            <a:avLst/>
            <a:gdLst/>
            <a:ahLst/>
            <a:cxnLst/>
            <a:rect l="l" t="t" r="r" b="b"/>
            <a:pathLst>
              <a:path w="1920239" h="109855">
                <a:moveTo>
                  <a:pt x="1919973" y="0"/>
                </a:moveTo>
                <a:lnTo>
                  <a:pt x="0" y="0"/>
                </a:lnTo>
                <a:lnTo>
                  <a:pt x="0" y="109550"/>
                </a:lnTo>
                <a:lnTo>
                  <a:pt x="1919973" y="109550"/>
                </a:lnTo>
                <a:lnTo>
                  <a:pt x="1919973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397197" y="3117702"/>
            <a:ext cx="57912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</a:rPr>
              <a:t>August</a:t>
            </a:r>
            <a:r>
              <a:rPr sz="600" spc="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</a:rPr>
              <a:t>11,</a:t>
            </a:r>
            <a:r>
              <a:rPr sz="600" spc="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00" spc="-20" dirty="0">
                <a:solidFill>
                  <a:srgbClr val="FFFFFF"/>
                </a:solidFill>
                <a:latin typeface="Tahoma"/>
                <a:cs typeface="Tahoma"/>
              </a:rPr>
              <a:t>2026</a:t>
            </a:r>
            <a:endParaRPr sz="6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452935" y="3117702"/>
            <a:ext cx="252729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20" dirty="0">
                <a:solidFill>
                  <a:srgbClr val="FFFFFF"/>
                </a:solidFill>
                <a:latin typeface="Tahoma"/>
                <a:cs typeface="Tahoma"/>
              </a:rPr>
              <a:t>32</a:t>
            </a:r>
            <a:r>
              <a:rPr sz="600" spc="-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00" spc="85" dirty="0">
                <a:solidFill>
                  <a:srgbClr val="FFFFFF"/>
                </a:solidFill>
                <a:latin typeface="Tahoma"/>
                <a:cs typeface="Tahoma"/>
              </a:rPr>
              <a:t>/</a:t>
            </a:r>
            <a:r>
              <a:rPr sz="600" spc="-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Tahoma"/>
                <a:cs typeface="Tahoma"/>
              </a:rPr>
              <a:t>45</a:t>
            </a:r>
            <a:endParaRPr sz="6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Words>76</Words>
  <Application>Microsoft Office PowerPoint</Application>
  <PresentationFormat>Custom</PresentationFormat>
  <Paragraphs>11</Paragraphs>
  <Slides>46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0" baseType="lpstr">
      <vt:lpstr>Arial</vt:lpstr>
      <vt:lpstr>Calibri</vt:lpstr>
      <vt:lpstr>Tahoma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Minh họa: Bất thường &amp; Luật kết hợp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3. Thách thức, Kiểm thử &amp; Xác thực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slide_Chapter_01_v2</dc:title>
  <dc:creator>thanh</dc:creator>
  <cp:lastModifiedBy>Thang Tran Thanh</cp:lastModifiedBy>
  <cp:revision>1</cp:revision>
  <dcterms:created xsi:type="dcterms:W3CDTF">2026-08-19T17:02:07Z</dcterms:created>
  <dcterms:modified xsi:type="dcterms:W3CDTF">2026-08-19T17:07:11Z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2026-08-19T00:00:00Z</vt:filetime>
  </property>
  <property fmtid="{D5CDD505-2E9C-101B-9397-08002B2CF9AE}" pid="3" name="Creator">
    <vt:lpwstr>Wondershare PDFelement</vt:lpwstr>
  </property>
  <property fmtid="{D5CDD505-2E9C-101B-9397-08002B2CF9AE}" pid="4" name="LastSaved">
    <vt:filetime>2026-08-19T00:00:00Z</vt:filetime>
  </property>
  <property fmtid="{D5CDD505-2E9C-101B-9397-08002B2CF9AE}" pid="5" name="Producer">
    <vt:lpwstr>Wondershare PDFelement</vt:lpwstr>
  </property>
</Properties>
</file>